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"/>
              </a:defRPr>
            </a:pPr>
            <a:r>
              <a:t>NeoStats: Financial Document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AAB9CD"/>
                </a:solidFill>
                <a:latin typeface="Aptos"/>
              </a:defRPr>
            </a:pPr>
            <a:r>
              <a:t>AI Engineer Internship Case Study | Submission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105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AAB9CD"/>
                </a:solidFill>
                <a:latin typeface="Aptos"/>
              </a:defRPr>
            </a:pPr>
            <a:r>
              <a:t>NeoStats | Document Intelligence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2DD4BF"/>
                </a:solidFill>
                <a:latin typeface="Aptos"/>
              </a:defRPr>
            </a:pPr>
            <a:r>
              <a:t>From scanned financial PDFs and invoice images to validated, evidence-grounded JSON.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F1F5F9"/>
                </a:solidFill>
                <a:latin typeface="Aptos"/>
              </a:defRPr>
            </a:pPr>
            <a:r>
              <a:t>Supports Invoice, Balance Sheet, Profit &amp; Loss, and Cash Flow documents.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4023360"/>
            <a:ext cx="3291840" cy="141732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4169664"/>
            <a:ext cx="2971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Verified locally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4553712"/>
            <a:ext cx="2971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50/50 supplied documents PASS</a:t>
            </a:r>
            <a:br/>
            <a:r>
              <a:t>12 automated tests PASS</a:t>
            </a:r>
            <a:br/>
            <a:r>
              <a:t>FastAPI + Tesseract + SQLite + dashboard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4023360"/>
            <a:ext cx="3291840" cy="141732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4169664"/>
            <a:ext cx="2971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Submission 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4553712"/>
            <a:ext cx="2971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Local implementation complete</a:t>
            </a:r>
            <a:br/>
            <a:r>
              <a:t>Deployment and public repository remain external submission actions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4023360"/>
            <a:ext cx="3291840" cy="141732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4169664"/>
            <a:ext cx="2971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Core promise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4553712"/>
            <a:ext cx="2971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Every extracted value carries source evidence and page metadata where available.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"/>
              </a:defRPr>
            </a:pPr>
            <a:r>
              <a:t>Problem and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5105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AAB9CD"/>
                </a:solidFill>
                <a:latin typeface="Aptos"/>
              </a:defRPr>
            </a:pPr>
            <a:r>
              <a:t>NeoStats | Document Intelligence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1F5F9"/>
                </a:solidFill>
                <a:latin typeface="Aptos"/>
              </a:defRPr>
            </a:pPr>
            <a:r>
              <a:t>? Financial documents arrive as native PDFs, scanned PDFs, and invoice images.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75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1F5F9"/>
                </a:solidFill>
                <a:latin typeface="Aptos"/>
              </a:defRPr>
            </a:pPr>
            <a:r>
              <a:t>? OCR alone is insufficient: the system must recover fields, line items, evidence, and reporting periods.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34056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1F5F9"/>
                </a:solidFill>
                <a:latin typeface="Aptos"/>
              </a:defRPr>
            </a:pPr>
            <a:r>
              <a:t>? Calculated totals and accounting relationships must be checked transparently.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92424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1F5F9"/>
                </a:solidFill>
                <a:latin typeface="Aptos"/>
              </a:defRPr>
            </a:pPr>
            <a:r>
              <a:t>? Users need a usable upload workflow, history, raw JSON, and validation details.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50791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1F5F9"/>
                </a:solidFill>
                <a:latin typeface="Aptos"/>
              </a:defRPr>
            </a:pPr>
            <a:r>
              <a:t>? The output must distinguish missing data from a genuine financial failure.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"/>
              </a:defRPr>
            </a:pPr>
            <a:r>
              <a:t>Architecture and processing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5105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AAB9CD"/>
                </a:solidFill>
                <a:latin typeface="Aptos"/>
              </a:defRPr>
            </a:pPr>
            <a:r>
              <a:t>NeoStats | Document Intelligence Assignment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664208" cy="141732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2157984"/>
            <a:ext cx="13441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Upload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2542032"/>
            <a:ext cx="1344168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PDF/JPG/PNG</a:t>
            </a:r>
            <a:br/>
            <a:r>
              <a:t>file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03704" y="2487168"/>
            <a:ext cx="256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D4BF"/>
                </a:solidFill>
                <a:latin typeface="Aptos"/>
              </a:defRPr>
            </a:pPr>
            <a:r>
              <a:t>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41448" y="2011680"/>
            <a:ext cx="1664208" cy="141732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2157984"/>
            <a:ext cx="13441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OCR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542032"/>
            <a:ext cx="1344168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Native PDF text</a:t>
            </a:r>
            <a:br/>
            <a:r>
              <a:t>or Tesseract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2232" y="2487168"/>
            <a:ext cx="256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D4BF"/>
                </a:solidFill>
                <a:latin typeface="Aptos"/>
              </a:defRPr>
            </a:pPr>
            <a:r>
              <a:t>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2011680"/>
            <a:ext cx="1664208" cy="141732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2157984"/>
            <a:ext cx="13441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Extract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542032"/>
            <a:ext cx="1344168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Canonical fields</a:t>
            </a:r>
            <a:br/>
            <a:r>
              <a:t>line items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487168"/>
            <a:ext cx="256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D4BF"/>
                </a:solidFill>
                <a:latin typeface="Aptos"/>
              </a:defRPr>
            </a:pPr>
            <a:r>
              <a:t>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18504" y="2011680"/>
            <a:ext cx="1664208" cy="141732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2157984"/>
            <a:ext cx="13441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2542032"/>
            <a:ext cx="1344168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Source text</a:t>
            </a:r>
            <a:br/>
            <a:r>
              <a:t>page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9288" y="2487168"/>
            <a:ext cx="256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D4BF"/>
                </a:solidFill>
                <a:latin typeface="Aptos"/>
              </a:defRPr>
            </a:pPr>
            <a:r>
              <a:t>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2011680"/>
            <a:ext cx="1664208" cy="141732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4" y="2157984"/>
            <a:ext cx="13441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Validate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2542032"/>
            <a:ext cx="1344168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Accounting formulas</a:t>
            </a:r>
            <a:br/>
            <a:r>
              <a:t>status + variance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57816" y="2487168"/>
            <a:ext cx="256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D4BF"/>
                </a:solidFill>
                <a:latin typeface="Aptos"/>
              </a:defRPr>
            </a:pPr>
            <a:r>
              <a:t>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5560" y="2011680"/>
            <a:ext cx="1664208" cy="141732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60152" y="2157984"/>
            <a:ext cx="13441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Persist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60152" y="2542032"/>
            <a:ext cx="1344168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SQLite history</a:t>
            </a:r>
            <a:br/>
            <a:r>
              <a:t>REST response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800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D4BF"/>
                </a:solidFill>
                <a:latin typeface="Aptos"/>
              </a:defRPr>
            </a:pPr>
            <a:r>
              <a:t>Browser dashboard  ?  FastAPI /api/v1  ?  OCR + extraction + validation services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"/>
              </a:defRPr>
            </a:pPr>
            <a:r>
              <a:t>Supported documents and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5105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AAB9CD"/>
                </a:solidFill>
                <a:latin typeface="Aptos"/>
              </a:defRPr>
            </a:pPr>
            <a:r>
              <a:t>NeoStats | Document Intelligence Assignment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3474720" cy="182880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563624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Invoice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947672"/>
            <a:ext cx="3154679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Identity, parties, subtotal, tax, shipping, discount, total, line items, arithmetic validation.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417320"/>
            <a:ext cx="3474720" cy="182880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1563624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Balance Sheet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1947672"/>
            <a:ext cx="3154679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Assets, liabilities, equity, annual-report rows, comparative values, reconciliation.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17320"/>
            <a:ext cx="3474720" cy="182880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563624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Profit &amp;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1947672"/>
            <a:ext cx="3154679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Income, expenses, gross/operating profit, tax, net profit, detailed checks.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886200"/>
            <a:ext cx="3474720" cy="169164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9192" y="4032504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Cash 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9192" y="4416552"/>
            <a:ext cx="3154679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Operating, investing, financing, net change, opening/closing cash, adjustments.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886200"/>
            <a:ext cx="3474720" cy="169164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4224" y="4032504"/>
            <a:ext cx="315467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Evidence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4416552"/>
            <a:ext cx="3154679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Canonical field + value + confidence + source_text + page_number. Annual-report rows also expose comparative_periods.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"/>
              </a:defRPr>
            </a:pPr>
            <a:r>
              <a:t>Financial validation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5105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AAB9CD"/>
                </a:solidFill>
                <a:latin typeface="Aptos"/>
              </a:defRPr>
            </a:pPr>
            <a:r>
              <a:t>NeoStats | Document Intelligence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F1F5F9"/>
                </a:solidFill>
                <a:latin typeface="Aptos"/>
              </a:defRPr>
            </a:pPr>
            <a:r>
              <a:t>? Invoice: subtotal + tax + shipping ? discount = reported total.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39112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F1F5F9"/>
                </a:solidFill>
                <a:latin typeface="Aptos"/>
              </a:defRPr>
            </a:pPr>
            <a:r>
              <a:t>? Invoice line item: quantity ? unit price ? line total when OCR provides trustworthy operands.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60904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F1F5F9"/>
                </a:solidFill>
                <a:latin typeface="Aptos"/>
              </a:defRPr>
            </a:pPr>
            <a:r>
              <a:t>? Balance Sheet: liabilities + equity = assets.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82696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F1F5F9"/>
                </a:solidFill>
                <a:latin typeface="Aptos"/>
              </a:defRPr>
            </a:pPr>
            <a:r>
              <a:t>? Profit &amp; Loss: revenue ? cost of sales = gross profit; gross profit ? operating expenses = operating profit.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044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F1F5F9"/>
                </a:solidFill>
                <a:latin typeface="Aptos"/>
              </a:defRPr>
            </a:pPr>
            <a:r>
              <a:t>? Profit &amp; Loss: total income, total expenses, profit before tax, and net profit checks are explicit when fields exist.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F1F5F9"/>
                </a:solidFill>
                <a:latin typeface="Aptos"/>
              </a:defRPr>
            </a:pPr>
            <a:r>
              <a:t>? Cash Flow: operating + investing + financing + supported adjustments = net change; opening + net change = closing.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"/>
              </a:defRPr>
            </a:pPr>
            <a:r>
              <a:t>Verification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5105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AAB9CD"/>
                </a:solidFill>
                <a:latin typeface="Aptos"/>
              </a:defRPr>
            </a:pPr>
            <a:r>
              <a:t>NeoStats | Document Intelligence Assignment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08760"/>
            <a:ext cx="3337560" cy="219456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655063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039112"/>
            <a:ext cx="301752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Balance Sheet  10/10 PASS</a:t>
            </a:r>
            <a:br/>
            <a:r>
              <a:t>Cash Flow  10/10 PASS</a:t>
            </a:r>
            <a:br/>
            <a:r>
              <a:t>Profit &amp; Loss  10/10 PASS</a:t>
            </a:r>
            <a:br/>
            <a:r>
              <a:t>Invoices  20/20 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508760"/>
            <a:ext cx="3337560" cy="219456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1" y="1655063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Automated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9431" y="2039112"/>
            <a:ext cx="301752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12 tests passed</a:t>
            </a:r>
            <a:br/>
            <a:r>
              <a:t>Python compilation passed</a:t>
            </a:r>
            <a:br/>
            <a:r>
              <a:t>JavaScript syntax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08760"/>
            <a:ext cx="3337560" cy="2194560"/>
          </a:xfrm>
          <a:prstGeom prst="roundRect">
            <a:avLst/>
          </a:prstGeom>
          <a:solidFill>
            <a:srgbClr val="142034"/>
          </a:solidFill>
          <a:ln>
            <a:solidFill>
              <a:srgbClr val="2A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655063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D4BF"/>
                </a:solidFill>
                <a:latin typeface="Aptos"/>
              </a:defRPr>
            </a:pPr>
            <a:r>
              <a:t>Runtime routes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2039112"/>
            <a:ext cx="301752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F1F5F9"/>
                </a:solidFill>
                <a:latin typeface="Aptos"/>
              </a:defRPr>
            </a:pPr>
            <a:r>
              <a:t>/api/v1/health  200</a:t>
            </a:r>
            <a:br/>
            <a:r>
              <a:t>/api/v1/documents  200</a:t>
            </a:r>
            <a:br/>
            <a:r>
              <a:t>/docs  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177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D4BF"/>
                </a:solidFill>
                <a:latin typeface="Aptos"/>
              </a:defRPr>
            </a:pPr>
            <a:r>
              <a:t>The dataset run includes difficult scanned annual reports and OCR-layout variations.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"/>
              </a:defRPr>
            </a:pPr>
            <a:r>
              <a:t>Known limitations and production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5105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AAB9CD"/>
                </a:solidFill>
                <a:latin typeface="Aptos"/>
              </a:defRPr>
            </a:pPr>
            <a:r>
              <a:t>NeoStats | Document Intelligence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F1F5F9"/>
                </a:solidFill>
                <a:latin typeface="Aptos"/>
              </a:defRPr>
            </a:pPr>
            <a:r>
              <a:t>? Comparative values are exposed in comparative_periods; direct period-keyed canonical fields can be expanded further.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39112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F1F5F9"/>
                </a:solidFill>
                <a:latin typeface="Aptos"/>
              </a:defRPr>
            </a:pPr>
            <a:r>
              <a:t>? Confidence scores are heuristic indicators, not calibrated probabilities.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60904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F1F5F9"/>
                </a:solidFill>
                <a:latin typeface="Aptos"/>
              </a:defRPr>
            </a:pPr>
            <a:r>
              <a:t>? Unseen invoice layouts may require additional table-layout rules.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82696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F1F5F9"/>
                </a:solidFill>
                <a:latin typeface="Aptos"/>
              </a:defRPr>
            </a:pPr>
            <a:r>
              <a:t>? SQLite is appropriate for the demo but should be replaced by persistent cloud storage in production.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044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F1F5F9"/>
                </a:solidFill>
                <a:latin typeface="Aptos"/>
              </a:defRPr>
            </a:pPr>
            <a:r>
              <a:t>? Deployment still requires a public GitHub repository, hosted frontend/API, Tesseract verification, HTTPS, and final URLs.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F1F5F9"/>
                </a:solidFill>
                <a:latin typeface="Aptos"/>
              </a:defRPr>
            </a:pPr>
            <a:r>
              <a:t>? A cloud deployment cannot be verified locally because hosting credentials and Docker hosting are not available in this environment.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ptos"/>
              </a:defRPr>
            </a:pPr>
            <a:r>
              <a:t>Demo and submission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5105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AAB9CD"/>
                </a:solidFill>
                <a:latin typeface="Aptos"/>
              </a:defRPr>
            </a:pPr>
            <a:r>
              <a:t>NeoStats | Document Intelligence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0">
                <a:solidFill>
                  <a:srgbClr val="F1F5F9"/>
                </a:solidFill>
                <a:latin typeface="Aptos"/>
              </a:defRPr>
            </a:pPr>
            <a:r>
              <a:t>? Start backend: cd backend &amp;&amp; uvicorn app.main:app --reload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75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0">
                <a:solidFill>
                  <a:srgbClr val="F1F5F9"/>
                </a:solidFill>
                <a:latin typeface="Aptos"/>
              </a:defRPr>
            </a:pPr>
            <a:r>
              <a:t>? Open Swagger: http://127.0.0.1:8000/docs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34056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0">
                <a:solidFill>
                  <a:srgbClr val="F1F5F9"/>
                </a:solidFill>
                <a:latin typeface="Aptos"/>
              </a:defRPr>
            </a:pPr>
            <a:r>
              <a:t>? Open the dashboard and upload a supplied PDF or invoice image.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92424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0">
                <a:solidFill>
                  <a:srgbClr val="F1F5F9"/>
                </a:solidFill>
                <a:latin typeface="Aptos"/>
              </a:defRPr>
            </a:pPr>
            <a:r>
              <a:t>? Show extracted JSON, evidence, comparative_periods, validation formulas, and processing history.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50791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0">
                <a:solidFill>
                  <a:srgbClr val="F1F5F9"/>
                </a:solidFill>
                <a:latin typeface="Aptos"/>
              </a:defRPr>
            </a:pPr>
            <a:r>
              <a:t>? Before submission: publish repository, deploy services, insert URLs, attach this PPTX, and include screenshots.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949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DD4BF"/>
                </a:solidFill>
                <a:latin typeface="Aptos"/>
              </a:defRPr>
            </a:pPr>
            <a:r>
              <a:t>Deliverables: README.md | SUBMISSION_CHECKLIST.md | PRESENTATION_OUTLINE.md | this 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