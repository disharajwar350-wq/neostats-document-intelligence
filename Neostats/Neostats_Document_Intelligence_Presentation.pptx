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NeoStats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AI Engineer Internship | Technical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68580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2F7FC"/>
                </a:solidFill>
              </a:defRPr>
            </a:pPr>
            <a:r>
              <a:t>Financial Document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62179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A6B8CC"/>
                </a:solidFill>
              </a:defRPr>
            </a:pPr>
            <a:r>
              <a:t>From PDF and invoice images to validated, evidence-grounded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108960" cy="114300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069080"/>
            <a:ext cx="73152" cy="1143000"/>
          </a:xfrm>
          <a:prstGeom prst="rect">
            <a:avLst/>
          </a:prstGeom>
          <a:solidFill>
            <a:srgbClr val="49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33672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Verified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663440"/>
            <a:ext cx="2724912" cy="429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50/50 supplied documents passed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12 automated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4069080"/>
            <a:ext cx="3108960" cy="114300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4069080"/>
            <a:ext cx="73152" cy="114300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4233672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Live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4663440"/>
            <a:ext cx="2724912" cy="429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Render Docker web service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Public dashboard + Swagger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283464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4200" b="1">
                <a:solidFill>
                  <a:srgbClr val="00CDBE"/>
                </a:solidFill>
              </a:defRPr>
            </a:pPr>
            <a:r>
              <a:t>Neo</a:t>
            </a:r>
          </a:p>
          <a:p>
            <a:pPr algn="ctr">
              <a:spcAft>
                <a:spcPts val="700"/>
              </a:spcAft>
              <a:defRPr sz="4200" b="1">
                <a:solidFill>
                  <a:srgbClr val="00CDBE"/>
                </a:solidFill>
              </a:defRPr>
            </a:pPr>
            <a:r>
              <a:t>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47472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Submission presentation</a:t>
            </a:r>
          </a:p>
          <a:p>
            <a:pPr algn="ctr"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Problem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Why financial document intelligence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38912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937759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919472" cy="3675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Financial teams receive native PDFs, scanned PDFs, and invoice images in different layouts. Manual extraction is slow, inconsistent, and difficult to audit.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OCR alone is not enough: important values need structure, source evidence, comparative periods, and accounting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166360" cy="438912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438912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581912"/>
            <a:ext cx="4800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The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11680"/>
            <a:ext cx="4782312" cy="36758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Build a reusable end-to-end platform that: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? validates the uploaded file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? extracts fields and tables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? preserves evidence and page numbers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? validates financial relationships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? stores results and exposes them through a dashboard and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A modular pipeline with clear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00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PDF / JPG / PNG</a:t>
            </a:r>
          </a:p>
        </p:txBody>
      </p:sp>
      <p:sp>
        <p:nvSpPr>
          <p:cNvPr id="9" name="Chevron 8"/>
          <p:cNvSpPr/>
          <p:nvPr/>
        </p:nvSpPr>
        <p:spPr>
          <a:xfrm>
            <a:off x="1938528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66543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52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Type, size, pages</a:t>
            </a:r>
          </a:p>
        </p:txBody>
      </p:sp>
      <p:sp>
        <p:nvSpPr>
          <p:cNvPr id="13" name="Chevron 12"/>
          <p:cNvSpPr/>
          <p:nvPr/>
        </p:nvSpPr>
        <p:spPr>
          <a:xfrm>
            <a:off x="3593591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21607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00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7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Native text + Tesseract</a:t>
            </a:r>
          </a:p>
        </p:txBody>
      </p:sp>
      <p:sp>
        <p:nvSpPr>
          <p:cNvPr id="17" name="Chevron 16"/>
          <p:cNvSpPr/>
          <p:nvPr/>
        </p:nvSpPr>
        <p:spPr>
          <a:xfrm>
            <a:off x="5248655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76672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52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9824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Fields + tables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6903719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31736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00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5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Financial formulas</a:t>
            </a:r>
          </a:p>
        </p:txBody>
      </p:sp>
      <p:sp>
        <p:nvSpPr>
          <p:cNvPr id="25" name="Chevron 24"/>
          <p:cNvSpPr/>
          <p:nvPr/>
        </p:nvSpPr>
        <p:spPr>
          <a:xfrm>
            <a:off x="8558784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799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52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1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Persist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39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SQLite + history</a:t>
            </a:r>
          </a:p>
        </p:txBody>
      </p:sp>
      <p:sp>
        <p:nvSpPr>
          <p:cNvPr id="29" name="Chevron 28"/>
          <p:cNvSpPr/>
          <p:nvPr/>
        </p:nvSpPr>
        <p:spPr>
          <a:xfrm>
            <a:off x="10213847" y="2679192"/>
            <a:ext cx="128016" cy="320040"/>
          </a:xfrm>
          <a:prstGeom prst="chevron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41863" y="2240280"/>
            <a:ext cx="1508760" cy="1234440"/>
          </a:xfrm>
          <a:prstGeom prst="roundRect">
            <a:avLst/>
          </a:prstGeom>
          <a:solidFill>
            <a:srgbClr val="122237"/>
          </a:solidFill>
          <a:ln>
            <a:solidFill>
              <a:srgbClr val="00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5" y="2441448"/>
            <a:ext cx="1362456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2F7FC"/>
                </a:solidFill>
              </a:defRPr>
            </a:pPr>
            <a:r>
              <a:t>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2862072"/>
            <a:ext cx="1325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A6B8CC"/>
                </a:solidFill>
              </a:defRPr>
            </a:pPr>
            <a:r>
              <a:t>Dashboard +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069080"/>
            <a:ext cx="1014984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A6B8CC"/>
                </a:solidFill>
              </a:defRPr>
            </a:pPr>
            <a:r>
              <a:t>Separation of concerns: validation, OCR, extraction, financial validation, persistence, API routes, and frontend controller are implemented as distinct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Practical open-source components selected for the three-day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74720" cy="182880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090672" cy="11155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Python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FastAPI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Pydantic-style structured responses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SQLite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3619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Document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65960"/>
            <a:ext cx="3090672" cy="11155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PyMuPDF / pypdf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Tesseract OCR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Pillow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Number normalization and evidence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474720" cy="182880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73152" cy="1828800"/>
          </a:xfrm>
          <a:prstGeom prst="rect">
            <a:avLst/>
          </a:prstGeom>
          <a:solidFill>
            <a:srgbClr val="FF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3619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65960"/>
            <a:ext cx="3090672" cy="11155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HTML, CSS, JavaScript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Docker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Render free-tier web service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Swagger/OpenAPI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703320"/>
            <a:ext cx="8869680" cy="141732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0" y="3703320"/>
            <a:ext cx="73152" cy="1417320"/>
          </a:xfrm>
          <a:prstGeom prst="rect">
            <a:avLst/>
          </a:prstGeom>
          <a:solidFill>
            <a:srgbClr val="49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3867911"/>
            <a:ext cx="8503919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Design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297680"/>
            <a:ext cx="8485632" cy="7040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No runtime API key required. Upload validation occurs before OCR. Missing values remain null or NOT_APPLICABLE rather than being invented. Errors are returned as controlled JSON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Supported documents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Four required categories with structured, auditable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697480" cy="1874519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874519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2331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2313432" cy="11612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Identity, parties, currency, subtotal, tax, discount, total, and line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25880"/>
            <a:ext cx="2697480" cy="1874519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325880"/>
            <a:ext cx="73152" cy="1874519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490472"/>
            <a:ext cx="2331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Balance 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920240"/>
            <a:ext cx="2313432" cy="11612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Assets, liabilities, equity, periods, currencies, and reconciliation.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325880"/>
            <a:ext cx="2697480" cy="1874519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325880"/>
            <a:ext cx="73152" cy="1874519"/>
          </a:xfrm>
          <a:prstGeom prst="rect">
            <a:avLst/>
          </a:prstGeom>
          <a:solidFill>
            <a:srgbClr val="FF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490472"/>
            <a:ext cx="2331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Profit &amp;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920240"/>
            <a:ext cx="2313432" cy="11612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Income, expenses, gross/operating profit, tax, net profit, and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325880"/>
            <a:ext cx="2240280" cy="1874519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325880"/>
            <a:ext cx="73152" cy="1874519"/>
          </a:xfrm>
          <a:prstGeom prst="rect">
            <a:avLst/>
          </a:prstGeom>
          <a:solidFill>
            <a:srgbClr val="49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490472"/>
            <a:ext cx="18745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Cash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1920240"/>
            <a:ext cx="1856232" cy="116128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Operating, investing, financing, opening/closing cash, and adjustments.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3886200"/>
            <a:ext cx="9601200" cy="13258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" y="3886200"/>
            <a:ext cx="73152" cy="132588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1328" y="4050791"/>
            <a:ext cx="92354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Evidence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480560"/>
            <a:ext cx="9217152" cy="6126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Each important field can include value, confidence indicator, source_text, and page_number. Comparative annual-report values are exposed through comparative_periods.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OCR and extraction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Native extraction first, OCR fallback for scanned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1. Validate extension, MIME type, size, readability, and page count.</a:t>
            </a:r>
          </a:p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2. Extract native PDF text when available.</a:t>
            </a:r>
          </a:p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3. Render scanned PDF pages and run Tesseract OCR.</a:t>
            </a:r>
          </a:p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4. OCR images using multiple orientations and choose the strongest text candidate.</a:t>
            </a:r>
          </a:p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5. Match canonical field aliases and normalize numbers, currencies, and parentheses.</a:t>
            </a:r>
          </a:p>
          <a:p>
            <a:pPr>
              <a:spcAft>
                <a:spcPts val="1200"/>
              </a:spcAft>
              <a:defRPr sz="1600">
                <a:solidFill>
                  <a:srgbClr val="F2F7FC"/>
                </a:solidFill>
              </a:defRPr>
            </a:pPr>
            <a:r>
              <a:t>? 6. Attach source lines and page references to extracted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572000" cy="35661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73152" cy="356616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73351"/>
            <a:ext cx="420624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Structured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03120"/>
            <a:ext cx="4187952" cy="28529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document_name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document_type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processing_status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file_validation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extracted_data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validation.checks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processing_metadata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Financial validation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Checks are calculated from fields actually present in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40690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06908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546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136392" cy="33558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Subtotal + tax + shipping - discount ? total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Quantity ? unit price ? line total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Cash paid - total ? change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Tax-included totals are handled conservatively.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0690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06908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546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40"/>
            <a:ext cx="3136392" cy="33558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Balance sheet: liabilities + equity ? assets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P&amp;L: income - expenditure ? profit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Cash flow: operating + investing + financing + adjustments ? net change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Opening cash + net change ? closing cash.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40690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4069080"/>
          </a:xfrm>
          <a:prstGeom prst="rect">
            <a:avLst/>
          </a:prstGeom>
          <a:solidFill>
            <a:srgbClr val="FF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546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Transparent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20240"/>
            <a:ext cx="3136392" cy="33558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Every check contains: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formula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operands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calculated value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reported value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variance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PASS / FAIL / NOT_APPLICABLE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Missing operands never become invented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Upload, inspect, validate, and retrieve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3756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425196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295351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Document-type selector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PDF/JPG/PNG upload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Drag and drop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OCR text area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Sample data buttons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Extract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425196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20240"/>
            <a:ext cx="295351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Raw JSON view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Line-item table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Evidence source text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Page numbers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Validation status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JSON and CSV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33756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73152" cy="4251960"/>
          </a:xfrm>
          <a:prstGeom prst="rect">
            <a:avLst/>
          </a:prstGeom>
          <a:solidFill>
            <a:srgbClr val="49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20240"/>
            <a:ext cx="295351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SQLite-backed processing history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Document name and type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PASS / FAILED status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Processed time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Open latest stored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Testing and deployment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Evidence that the implementation works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20640" cy="13258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325880"/>
          </a:xfrm>
          <a:prstGeom prst="rect">
            <a:avLst/>
          </a:prstGeom>
          <a:solidFill>
            <a:srgbClr val="49D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754879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Dataset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0240"/>
            <a:ext cx="4736592" cy="6126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Balance Sheets 10/10 PASS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Cash Flows 10/10 PASS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Profit &amp; Loss 10/10 PASS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Invoices 20/20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120640" cy="13258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73152" cy="132588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4754879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Automated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20440"/>
            <a:ext cx="4736592" cy="6126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12 automated tests passed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Python compilation passed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Frontend JavaScript syntax checked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5120640" cy="13258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526280"/>
            <a:ext cx="73152" cy="132588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690872"/>
            <a:ext cx="4754879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Hosted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20640"/>
            <a:ext cx="4736592" cy="6126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Live balance-sheet PDF processed successfully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JSON, evidence, confidence, and validations displayed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5212080" cy="452628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73152" cy="4526280"/>
          </a:xfrm>
          <a:prstGeom prst="rect">
            <a:avLst/>
          </a:prstGeom>
          <a:solidFill>
            <a:srgbClr val="FF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490472"/>
            <a:ext cx="48463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Public submission URLs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920240"/>
            <a:ext cx="4828032" cy="3813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Frontend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https://neostats-document-intelligence-1.onrender.com/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Swagger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https://neostats-document-intelligence-1.onrender.com/docs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Health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https://neostats-document-intelligence-1.onrender.com/api/v1/health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Repository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github.com/disharajwar350-wq/neostats-document-intelligence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7FC"/>
                </a:solidFill>
              </a:defRPr>
            </a:pPr>
            <a:r>
              <a:t>Limitations, future work, and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6B8CC"/>
                </a:solidFill>
              </a:defRPr>
            </a:pPr>
            <a:r>
              <a:t>Honest scope for a practical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6B8CC"/>
                </a:solidFill>
              </a:defRPr>
            </a:pPr>
            <a:r>
              <a:t>NeoStats | Financial Document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251960"/>
          </a:xfrm>
          <a:prstGeom prst="rect">
            <a:avLst/>
          </a:prstGeom>
          <a:solidFill>
            <a:srgbClr val="FF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09067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Confidence scores are heuristic, not calibrated probabilities.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Unseen OCR layouts may reduce extraction quality.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Invoice table extraction is conservative when layout is ambiguous.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SQLite is suitable for demo evaluation; production needs managed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4251960"/>
          </a:xfrm>
          <a:prstGeom prst="rect">
            <a:avLst/>
          </a:prstGeom>
          <a:solidFill>
            <a:srgbClr val="52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40"/>
            <a:ext cx="309067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Canonical current/comparative fields for every schema.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PostgreSQL and object storage.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Authentication, rate limiting, monitoring, backups, and recovery.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Expanded layout-aware table extraction and labeled confidence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4251960"/>
          </a:xfrm>
          <a:prstGeom prst="roundRect">
            <a:avLst/>
          </a:prstGeom>
          <a:solidFill>
            <a:srgbClr val="122237"/>
          </a:solidFill>
          <a:ln>
            <a:solidFill>
              <a:srgbClr val="233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4251960"/>
          </a:xfrm>
          <a:prstGeom prst="rect">
            <a:avLst/>
          </a:prstGeom>
          <a:solidFill>
            <a:srgbClr val="00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C"/>
                </a:solidFill>
              </a:defRPr>
            </a:pPr>
            <a:r>
              <a:t>AI-use disclosure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20240"/>
            <a:ext cx="3090672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AI assistants were used for repository inspection, implementation assistance, debugging, testing support, and documentation drafting.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The submitted code was reviewed, tested, deployed, and verified by the candidate.</a:t>
            </a: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A6B8CC"/>
                </a:solidFill>
              </a:defRPr>
            </a:pPr>
            <a:r>
              <a:t>No third-party LLM or paid OCR API is required at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